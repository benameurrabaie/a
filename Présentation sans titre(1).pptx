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Oswald"/>
      <p:regular r:id="rId7"/>
      <p:bold r:id="rId8"/>
    </p:embeddedFont>
    <p:embeddedFont>
      <p:font typeface="Noto Sans JP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NotoSansJP-bold.fntdata"/><Relationship Id="rId9" Type="http://schemas.openxmlformats.org/officeDocument/2006/relationships/font" Target="fonts/NotoSansJP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swald-regular.fntdata"/><Relationship Id="rId8" Type="http://schemas.openxmlformats.org/officeDocument/2006/relationships/font" Target="fonts/Oswa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134641" y="2113500"/>
            <a:ext cx="1432200" cy="916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3205775" y="647600"/>
            <a:ext cx="2487600" cy="112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3"/>
          <p:cNvGrpSpPr/>
          <p:nvPr/>
        </p:nvGrpSpPr>
        <p:grpSpPr>
          <a:xfrm>
            <a:off x="289625" y="2066923"/>
            <a:ext cx="1432200" cy="1009641"/>
            <a:chOff x="201825" y="198073"/>
            <a:chExt cx="1432200" cy="1009641"/>
          </a:xfrm>
        </p:grpSpPr>
        <p:sp>
          <p:nvSpPr>
            <p:cNvPr id="57" name="Google Shape;57;p13"/>
            <p:cNvSpPr/>
            <p:nvPr/>
          </p:nvSpPr>
          <p:spPr>
            <a:xfrm>
              <a:off x="201825" y="229675"/>
              <a:ext cx="1432200" cy="94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385568" y="869015"/>
              <a:ext cx="1091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>
                  <a:latin typeface="Oswald"/>
                  <a:ea typeface="Oswald"/>
                  <a:cs typeface="Oswald"/>
                  <a:sym typeface="Oswald"/>
                </a:rPr>
                <a:t>Sequential domains</a:t>
              </a:r>
              <a:endParaRPr sz="10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459875" y="536775"/>
              <a:ext cx="115500" cy="325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732425" y="536775"/>
              <a:ext cx="267000" cy="3255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156475" y="536775"/>
              <a:ext cx="236100" cy="3255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382078" y="198075"/>
              <a:ext cx="307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T</a:t>
              </a:r>
              <a:r>
                <a:rPr baseline="-25000" lang="fr" sz="10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1</a:t>
              </a:r>
              <a:endParaRPr baseline="-25000" sz="1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63" name="Google Shape;63;p13"/>
            <p:cNvSpPr txBox="1"/>
            <p:nvPr/>
          </p:nvSpPr>
          <p:spPr>
            <a:xfrm>
              <a:off x="712178" y="198073"/>
              <a:ext cx="307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T</a:t>
              </a:r>
              <a:r>
                <a:rPr baseline="-25000" lang="fr" sz="10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2</a:t>
              </a:r>
              <a:endParaRPr baseline="-25000" sz="1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64" name="Google Shape;64;p13"/>
            <p:cNvSpPr txBox="1"/>
            <p:nvPr/>
          </p:nvSpPr>
          <p:spPr>
            <a:xfrm>
              <a:off x="1120778" y="198073"/>
              <a:ext cx="307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T</a:t>
              </a:r>
              <a:r>
                <a:rPr baseline="-25000" lang="fr" sz="10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K</a:t>
              </a:r>
              <a:endParaRPr baseline="-25000" sz="1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65" name="Google Shape;65;p13"/>
          <p:cNvGrpSpPr/>
          <p:nvPr/>
        </p:nvGrpSpPr>
        <p:grpSpPr>
          <a:xfrm>
            <a:off x="2731975" y="2098525"/>
            <a:ext cx="1432200" cy="978040"/>
            <a:chOff x="201825" y="229675"/>
            <a:chExt cx="1432200" cy="978040"/>
          </a:xfrm>
        </p:grpSpPr>
        <p:sp>
          <p:nvSpPr>
            <p:cNvPr id="66" name="Google Shape;66;p13"/>
            <p:cNvSpPr/>
            <p:nvPr/>
          </p:nvSpPr>
          <p:spPr>
            <a:xfrm>
              <a:off x="201825" y="229675"/>
              <a:ext cx="1432200" cy="94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385568" y="869015"/>
              <a:ext cx="1091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>
                  <a:latin typeface="Oswald"/>
                  <a:ea typeface="Oswald"/>
                  <a:cs typeface="Oswald"/>
                  <a:sym typeface="Oswald"/>
                </a:rPr>
                <a:t>Generative replay</a:t>
              </a:r>
              <a:endParaRPr sz="10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68" name="Google Shape;68;p13"/>
          <p:cNvGrpSpPr/>
          <p:nvPr/>
        </p:nvGrpSpPr>
        <p:grpSpPr>
          <a:xfrm>
            <a:off x="3265956" y="2278941"/>
            <a:ext cx="296693" cy="431400"/>
            <a:chOff x="4342231" y="657016"/>
            <a:chExt cx="296693" cy="431400"/>
          </a:xfrm>
        </p:grpSpPr>
        <p:sp>
          <p:nvSpPr>
            <p:cNvPr id="69" name="Google Shape;69;p13"/>
            <p:cNvSpPr/>
            <p:nvPr/>
          </p:nvSpPr>
          <p:spPr>
            <a:xfrm>
              <a:off x="4342231" y="657016"/>
              <a:ext cx="174300" cy="431400"/>
            </a:xfrm>
            <a:prstGeom prst="cube">
              <a:avLst>
                <a:gd fmla="val 57009" name="adj"/>
              </a:avLst>
            </a:prstGeom>
            <a:solidFill>
              <a:srgbClr val="C9DAF8"/>
            </a:solidFill>
            <a:ln cap="flat" cmpd="sng" w="9525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4429396" y="726635"/>
              <a:ext cx="122400" cy="292200"/>
            </a:xfrm>
            <a:prstGeom prst="cube">
              <a:avLst>
                <a:gd fmla="val 57009" name="adj"/>
              </a:avLst>
            </a:prstGeom>
            <a:solidFill>
              <a:srgbClr val="FFFFFF"/>
            </a:solidFill>
            <a:ln cap="flat" cmpd="sng" w="9525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4516319" y="746708"/>
              <a:ext cx="101700" cy="252000"/>
            </a:xfrm>
            <a:prstGeom prst="cube">
              <a:avLst>
                <a:gd fmla="val 57009" name="adj"/>
              </a:avLst>
            </a:prstGeom>
            <a:solidFill>
              <a:srgbClr val="FFFFFF"/>
            </a:solidFill>
            <a:ln cap="flat" cmpd="sng" w="9525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4567225" y="787366"/>
              <a:ext cx="71700" cy="170700"/>
            </a:xfrm>
            <a:prstGeom prst="cube">
              <a:avLst>
                <a:gd fmla="val 57009" name="adj"/>
              </a:avLst>
            </a:prstGeom>
            <a:solidFill>
              <a:srgbClr val="FFFFFF"/>
            </a:solidFill>
            <a:ln cap="flat" cmpd="sng" w="9525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3" name="Google Shape;73;p13"/>
          <p:cNvCxnSpPr>
            <a:stCxn id="57" idx="3"/>
            <a:endCxn id="66" idx="1"/>
          </p:cNvCxnSpPr>
          <p:nvPr/>
        </p:nvCxnSpPr>
        <p:spPr>
          <a:xfrm>
            <a:off x="1721825" y="2570725"/>
            <a:ext cx="1010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4" name="Google Shape;74;p13"/>
          <p:cNvGrpSpPr/>
          <p:nvPr/>
        </p:nvGrpSpPr>
        <p:grpSpPr>
          <a:xfrm>
            <a:off x="4775875" y="2098525"/>
            <a:ext cx="1432200" cy="978040"/>
            <a:chOff x="201825" y="229675"/>
            <a:chExt cx="1432200" cy="978040"/>
          </a:xfrm>
        </p:grpSpPr>
        <p:sp>
          <p:nvSpPr>
            <p:cNvPr id="75" name="Google Shape;75;p13"/>
            <p:cNvSpPr/>
            <p:nvPr/>
          </p:nvSpPr>
          <p:spPr>
            <a:xfrm>
              <a:off x="201825" y="229675"/>
              <a:ext cx="1432200" cy="94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 txBox="1"/>
            <p:nvPr/>
          </p:nvSpPr>
          <p:spPr>
            <a:xfrm>
              <a:off x="385568" y="869015"/>
              <a:ext cx="1091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>
                  <a:latin typeface="Oswald"/>
                  <a:ea typeface="Oswald"/>
                  <a:cs typeface="Oswald"/>
                  <a:sym typeface="Oswald"/>
                </a:rPr>
                <a:t>Zero Trust Verifier</a:t>
              </a:r>
              <a:endParaRPr sz="10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8100" y="2300300"/>
            <a:ext cx="431400" cy="431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3"/>
          <p:cNvCxnSpPr>
            <a:stCxn id="66" idx="3"/>
            <a:endCxn id="75" idx="1"/>
          </p:cNvCxnSpPr>
          <p:nvPr/>
        </p:nvCxnSpPr>
        <p:spPr>
          <a:xfrm>
            <a:off x="4164175" y="2570725"/>
            <a:ext cx="61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3"/>
          <p:cNvSpPr txBox="1"/>
          <p:nvPr/>
        </p:nvSpPr>
        <p:spPr>
          <a:xfrm>
            <a:off x="7873916" y="2214850"/>
            <a:ext cx="50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B7B7B7"/>
                </a:solidFill>
                <a:latin typeface="Oswald"/>
                <a:ea typeface="Oswald"/>
                <a:cs typeface="Oswald"/>
                <a:sym typeface="Oswald"/>
              </a:rPr>
              <a:t>Benign</a:t>
            </a:r>
            <a:endParaRPr sz="800">
              <a:solidFill>
                <a:srgbClr val="B7B7B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7873921" y="2419252"/>
            <a:ext cx="50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E06666"/>
                </a:solidFill>
                <a:latin typeface="Oswald"/>
                <a:ea typeface="Oswald"/>
                <a:cs typeface="Oswald"/>
                <a:sym typeface="Oswald"/>
              </a:rPr>
              <a:t>Attack</a:t>
            </a:r>
            <a:endParaRPr sz="800">
              <a:solidFill>
                <a:srgbClr val="E0666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7565157" y="2710350"/>
            <a:ext cx="61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Classifier</a:t>
            </a:r>
            <a:endParaRPr sz="1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82" name="Google Shape;82;p13"/>
          <p:cNvGrpSpPr/>
          <p:nvPr/>
        </p:nvGrpSpPr>
        <p:grpSpPr>
          <a:xfrm>
            <a:off x="7515122" y="2278941"/>
            <a:ext cx="296693" cy="431400"/>
            <a:chOff x="4342231" y="657016"/>
            <a:chExt cx="296693" cy="431400"/>
          </a:xfrm>
        </p:grpSpPr>
        <p:sp>
          <p:nvSpPr>
            <p:cNvPr id="83" name="Google Shape;83;p13"/>
            <p:cNvSpPr/>
            <p:nvPr/>
          </p:nvSpPr>
          <p:spPr>
            <a:xfrm>
              <a:off x="4342231" y="657016"/>
              <a:ext cx="174300" cy="431400"/>
            </a:xfrm>
            <a:prstGeom prst="cube">
              <a:avLst>
                <a:gd fmla="val 57009" name="adj"/>
              </a:avLst>
            </a:prstGeom>
            <a:solidFill>
              <a:srgbClr val="C9DAF8"/>
            </a:solidFill>
            <a:ln cap="flat" cmpd="sng" w="9525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4429396" y="726635"/>
              <a:ext cx="122400" cy="292200"/>
            </a:xfrm>
            <a:prstGeom prst="cube">
              <a:avLst>
                <a:gd fmla="val 57009" name="adj"/>
              </a:avLst>
            </a:prstGeom>
            <a:solidFill>
              <a:srgbClr val="FFFFFF"/>
            </a:solidFill>
            <a:ln cap="flat" cmpd="sng" w="9525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4516319" y="746708"/>
              <a:ext cx="101700" cy="252000"/>
            </a:xfrm>
            <a:prstGeom prst="cube">
              <a:avLst>
                <a:gd fmla="val 57009" name="adj"/>
              </a:avLst>
            </a:prstGeom>
            <a:solidFill>
              <a:srgbClr val="FFFFFF"/>
            </a:solidFill>
            <a:ln cap="flat" cmpd="sng" w="9525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4567225" y="787366"/>
              <a:ext cx="71700" cy="170700"/>
            </a:xfrm>
            <a:prstGeom prst="cube">
              <a:avLst>
                <a:gd fmla="val 57009" name="adj"/>
              </a:avLst>
            </a:prstGeom>
            <a:solidFill>
              <a:srgbClr val="FFFFFF"/>
            </a:solidFill>
            <a:ln cap="flat" cmpd="sng" w="9525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" name="Google Shape;87;p13"/>
          <p:cNvCxnSpPr>
            <a:stCxn id="75" idx="3"/>
            <a:endCxn id="54" idx="1"/>
          </p:cNvCxnSpPr>
          <p:nvPr/>
        </p:nvCxnSpPr>
        <p:spPr>
          <a:xfrm>
            <a:off x="6208075" y="2570725"/>
            <a:ext cx="926700" cy="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8" name="Google Shape;88;p13"/>
          <p:cNvGrpSpPr/>
          <p:nvPr/>
        </p:nvGrpSpPr>
        <p:grpSpPr>
          <a:xfrm>
            <a:off x="3205763" y="241075"/>
            <a:ext cx="1484821" cy="359225"/>
            <a:chOff x="2705663" y="1599163"/>
            <a:chExt cx="1484821" cy="359225"/>
          </a:xfrm>
        </p:grpSpPr>
        <p:sp>
          <p:nvSpPr>
            <p:cNvPr id="89" name="Google Shape;89;p13"/>
            <p:cNvSpPr txBox="1"/>
            <p:nvPr/>
          </p:nvSpPr>
          <p:spPr>
            <a:xfrm>
              <a:off x="3064884" y="1609425"/>
              <a:ext cx="1125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Integrity adversary</a:t>
              </a:r>
              <a:endParaRPr sz="1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pic>
          <p:nvPicPr>
            <p:cNvPr id="90" name="Google Shape;9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705663" y="1599163"/>
              <a:ext cx="359225" cy="359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" name="Google Shape;91;p13"/>
          <p:cNvGrpSpPr/>
          <p:nvPr/>
        </p:nvGrpSpPr>
        <p:grpSpPr>
          <a:xfrm>
            <a:off x="3349212" y="718193"/>
            <a:ext cx="878273" cy="664282"/>
            <a:chOff x="1838587" y="159168"/>
            <a:chExt cx="878273" cy="664282"/>
          </a:xfrm>
        </p:grpSpPr>
        <p:sp>
          <p:nvSpPr>
            <p:cNvPr id="92" name="Google Shape;92;p13"/>
            <p:cNvSpPr txBox="1"/>
            <p:nvPr/>
          </p:nvSpPr>
          <p:spPr>
            <a:xfrm>
              <a:off x="1929061" y="159168"/>
              <a:ext cx="787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Label flipping</a:t>
              </a:r>
              <a:endParaRPr sz="9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1838587" y="515650"/>
              <a:ext cx="296700" cy="30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chemeClr val="lt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0</a:t>
              </a:r>
              <a:endParaRPr sz="800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2403062" y="515650"/>
              <a:ext cx="296700" cy="30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chemeClr val="lt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1</a:t>
              </a:r>
              <a:endParaRPr sz="800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cxnSp>
          <p:nvCxnSpPr>
            <p:cNvPr id="95" name="Google Shape;95;p13"/>
            <p:cNvCxnSpPr>
              <a:stCxn id="93" idx="3"/>
              <a:endCxn id="94" idx="1"/>
            </p:cNvCxnSpPr>
            <p:nvPr/>
          </p:nvCxnSpPr>
          <p:spPr>
            <a:xfrm>
              <a:off x="2135287" y="669550"/>
              <a:ext cx="267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6" name="Google Shape;96;p13"/>
          <p:cNvGrpSpPr/>
          <p:nvPr/>
        </p:nvGrpSpPr>
        <p:grpSpPr>
          <a:xfrm>
            <a:off x="4332027" y="697948"/>
            <a:ext cx="1010100" cy="704777"/>
            <a:chOff x="3910927" y="165873"/>
            <a:chExt cx="1010100" cy="704777"/>
          </a:xfrm>
        </p:grpSpPr>
        <p:sp>
          <p:nvSpPr>
            <p:cNvPr id="97" name="Google Shape;97;p13"/>
            <p:cNvSpPr txBox="1"/>
            <p:nvPr/>
          </p:nvSpPr>
          <p:spPr>
            <a:xfrm>
              <a:off x="3910927" y="165873"/>
              <a:ext cx="10101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Feature poisoning</a:t>
              </a:r>
              <a:endParaRPr sz="9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973262" y="637250"/>
              <a:ext cx="81000" cy="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4125662" y="789650"/>
              <a:ext cx="81000" cy="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4278062" y="658327"/>
              <a:ext cx="81000" cy="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4634277" y="718240"/>
              <a:ext cx="141600" cy="141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" name="Google Shape;102;p13"/>
            <p:cNvCxnSpPr>
              <a:stCxn id="100" idx="6"/>
              <a:endCxn id="101" idx="2"/>
            </p:cNvCxnSpPr>
            <p:nvPr/>
          </p:nvCxnSpPr>
          <p:spPr>
            <a:xfrm>
              <a:off x="4359062" y="698827"/>
              <a:ext cx="275100" cy="90300"/>
            </a:xfrm>
            <a:prstGeom prst="straightConnector1">
              <a:avLst/>
            </a:prstGeom>
            <a:noFill/>
            <a:ln cap="flat" cmpd="sng" w="9525">
              <a:solidFill>
                <a:srgbClr val="1E1E1E"/>
              </a:solidFill>
              <a:prstDash val="dot"/>
              <a:round/>
              <a:headEnd len="med" w="med" type="none"/>
              <a:tailEnd len="med" w="med" type="stealth"/>
            </a:ln>
          </p:spPr>
        </p:cxnSp>
      </p:grpSp>
      <p:cxnSp>
        <p:nvCxnSpPr>
          <p:cNvPr id="103" name="Google Shape;103;p13"/>
          <p:cNvCxnSpPr/>
          <p:nvPr/>
        </p:nvCxnSpPr>
        <p:spPr>
          <a:xfrm>
            <a:off x="4446138" y="1660138"/>
            <a:ext cx="6900" cy="81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grpSp>
        <p:nvGrpSpPr>
          <p:cNvPr id="104" name="Google Shape;104;p13"/>
          <p:cNvGrpSpPr/>
          <p:nvPr/>
        </p:nvGrpSpPr>
        <p:grpSpPr>
          <a:xfrm>
            <a:off x="683400" y="3440838"/>
            <a:ext cx="3843900" cy="1151088"/>
            <a:chOff x="1473775" y="3370338"/>
            <a:chExt cx="3843900" cy="1151088"/>
          </a:xfrm>
        </p:grpSpPr>
        <p:sp>
          <p:nvSpPr>
            <p:cNvPr id="105" name="Google Shape;105;p13"/>
            <p:cNvSpPr/>
            <p:nvPr/>
          </p:nvSpPr>
          <p:spPr>
            <a:xfrm>
              <a:off x="1473775" y="3785225"/>
              <a:ext cx="3843900" cy="7362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 txBox="1"/>
            <p:nvPr/>
          </p:nvSpPr>
          <p:spPr>
            <a:xfrm>
              <a:off x="1638575" y="3988525"/>
              <a:ext cx="787800" cy="32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Clip gradients</a:t>
              </a:r>
              <a:endParaRPr sz="9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7" name="Google Shape;107;p13"/>
            <p:cNvSpPr txBox="1"/>
            <p:nvPr/>
          </p:nvSpPr>
          <p:spPr>
            <a:xfrm>
              <a:off x="2745475" y="3988525"/>
              <a:ext cx="1060800" cy="32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Add Gaussian noise</a:t>
              </a:r>
              <a:endParaRPr sz="9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8" name="Google Shape;108;p13"/>
            <p:cNvSpPr txBox="1"/>
            <p:nvPr/>
          </p:nvSpPr>
          <p:spPr>
            <a:xfrm>
              <a:off x="4125375" y="3988525"/>
              <a:ext cx="940200" cy="32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Update generator</a:t>
              </a:r>
              <a:endParaRPr sz="9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109" name="Google Shape;109;p13"/>
            <p:cNvCxnSpPr>
              <a:stCxn id="106" idx="3"/>
              <a:endCxn id="107" idx="1"/>
            </p:cNvCxnSpPr>
            <p:nvPr/>
          </p:nvCxnSpPr>
          <p:spPr>
            <a:xfrm>
              <a:off x="2426375" y="4150075"/>
              <a:ext cx="319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triangle"/>
            </a:ln>
          </p:spPr>
        </p:cxnSp>
        <p:cxnSp>
          <p:nvCxnSpPr>
            <p:cNvPr id="110" name="Google Shape;110;p13"/>
            <p:cNvCxnSpPr>
              <a:stCxn id="107" idx="3"/>
              <a:endCxn id="108" idx="1"/>
            </p:cNvCxnSpPr>
            <p:nvPr/>
          </p:nvCxnSpPr>
          <p:spPr>
            <a:xfrm>
              <a:off x="3806275" y="4150075"/>
              <a:ext cx="319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triangle"/>
            </a:ln>
          </p:spPr>
        </p:cxnSp>
        <p:grpSp>
          <p:nvGrpSpPr>
            <p:cNvPr id="111" name="Google Shape;111;p13"/>
            <p:cNvGrpSpPr/>
            <p:nvPr/>
          </p:nvGrpSpPr>
          <p:grpSpPr>
            <a:xfrm>
              <a:off x="1473775" y="3370338"/>
              <a:ext cx="2384601" cy="388475"/>
              <a:chOff x="1683200" y="3338313"/>
              <a:chExt cx="2384601" cy="388475"/>
            </a:xfrm>
          </p:grpSpPr>
          <p:sp>
            <p:nvSpPr>
              <p:cNvPr id="112" name="Google Shape;112;p13"/>
              <p:cNvSpPr txBox="1"/>
              <p:nvPr/>
            </p:nvSpPr>
            <p:spPr>
              <a:xfrm>
                <a:off x="1997801" y="3363200"/>
                <a:ext cx="2070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000">
                    <a:solidFill>
                      <a:schemeClr val="dk1"/>
                    </a:solidFill>
                    <a:latin typeface="Oswald"/>
                    <a:ea typeface="Oswald"/>
                    <a:cs typeface="Oswald"/>
                    <a:sym typeface="Oswald"/>
                  </a:rPr>
                  <a:t>Privacy-preserving generative replay</a:t>
                </a:r>
                <a:endParaRPr sz="10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  <p:pic>
            <p:nvPicPr>
              <p:cNvPr id="113" name="Google Shape;113;p1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683200" y="3338313"/>
                <a:ext cx="388475" cy="3884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114" name="Google Shape;114;p13"/>
          <p:cNvCxnSpPr/>
          <p:nvPr/>
        </p:nvCxnSpPr>
        <p:spPr>
          <a:xfrm flipH="1">
            <a:off x="2473618" y="3049040"/>
            <a:ext cx="906900" cy="45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3"/>
          <p:cNvCxnSpPr>
            <a:endCxn id="112" idx="3"/>
          </p:cNvCxnSpPr>
          <p:nvPr/>
        </p:nvCxnSpPr>
        <p:spPr>
          <a:xfrm flipH="1">
            <a:off x="3068001" y="3049175"/>
            <a:ext cx="312600" cy="58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6" name="Google Shape;116;p13"/>
          <p:cNvSpPr txBox="1"/>
          <p:nvPr/>
        </p:nvSpPr>
        <p:spPr>
          <a:xfrm>
            <a:off x="6336381" y="2207200"/>
            <a:ext cx="588900" cy="3078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Accepted</a:t>
            </a:r>
            <a:endParaRPr sz="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5592151" y="3166326"/>
            <a:ext cx="588900" cy="307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Rejected</a:t>
            </a:r>
            <a:endParaRPr sz="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18" name="Google Shape;118;p13"/>
          <p:cNvCxnSpPr/>
          <p:nvPr/>
        </p:nvCxnSpPr>
        <p:spPr>
          <a:xfrm>
            <a:off x="5491963" y="3029988"/>
            <a:ext cx="0" cy="68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pic>
        <p:nvPicPr>
          <p:cNvPr id="119" name="Google Shape;11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2125" y="3751175"/>
            <a:ext cx="338700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